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91C-4D92-A7C1-69C0BA317E8C}"/>
              </c:ext>
            </c:extLst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1C-4D92-A7C1-69C0BA317E8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91C-4D92-A7C1-69C0BA317E8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1C-4D92-A7C1-69C0BA317E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 Respons (84.95%)</c:v>
                </c:pt>
                <c:pt idx="1">
                  <c:v>Respons (15.05%)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84.95</c:v>
                </c:pt>
                <c:pt idx="1">
                  <c:v>15.05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1C-4D92-A7C1-69C0BA317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C2-40E2-AD38-1DB6103F472E}"/>
              </c:ext>
            </c:extLst>
          </c:dPt>
          <c:dPt>
            <c:idx val="1"/>
            <c:invertIfNegative val="0"/>
            <c:bubble3D val="0"/>
            <c:spPr>
              <a:solidFill>
                <a:srgbClr val="1C4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C2-40E2-AD38-1DB6103F47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 Respons</c:v>
                </c:pt>
                <c:pt idx="1">
                  <c:v>Respons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50824</c:v>
                </c:pt>
                <c:pt idx="1">
                  <c:v>60210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C2-40E2-AD38-1DB6103F47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Spending</c:v>
                </c:pt>
              </c:strCache>
            </c:strRef>
          </c:tx>
          <c:spPr>
            <a:solidFill>
              <a:srgbClr val="A7F3D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F8-4011-B65A-42C03CC2A965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F8-4011-B65A-42C03CC2A9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 Respons</c:v>
                </c:pt>
                <c:pt idx="1">
                  <c:v>Respons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540</c:v>
                </c:pt>
                <c:pt idx="1">
                  <c:v>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F8-4011-B65A-42C03CC2A9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FCD3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2n Cycle</c:v>
                </c:pt>
                <c:pt idx="1">
                  <c:v>Basic</c:v>
                </c:pt>
                <c:pt idx="2">
                  <c:v>Graduation</c:v>
                </c:pt>
                <c:pt idx="3">
                  <c:v>Master</c:v>
                </c:pt>
                <c:pt idx="4">
                  <c:v>PhD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11.1</c:v>
                </c:pt>
                <c:pt idx="1">
                  <c:v>3.7</c:v>
                </c:pt>
                <c:pt idx="2">
                  <c:v>13.6</c:v>
                </c:pt>
                <c:pt idx="3">
                  <c:v>15.3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2-4ED6-B841-0CF11F2452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Non-Responder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Catalog</c:v>
                </c:pt>
                <c:pt idx="2">
                  <c:v>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3.91</c:v>
                </c:pt>
                <c:pt idx="1">
                  <c:v>2.4</c:v>
                </c:pt>
                <c:pt idx="2">
                  <c:v>5.76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2E-4B8A-9443-0D9DC36E53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Responder</c:v>
                </c:pt>
              </c:strCache>
            </c:strRef>
          </c:tx>
          <c:spPr>
            <a:solidFill>
              <a:srgbClr val="1C4F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Catalog</c:v>
                </c:pt>
                <c:pt idx="2">
                  <c:v>Store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5.07</c:v>
                </c:pt>
                <c:pt idx="1">
                  <c:v>4.2</c:v>
                </c:pt>
                <c:pt idx="2">
                  <c:v>6.08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2E-4B8A-9443-0D9DC36E53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Rate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79-4231-A1AD-880A50466674}"/>
              </c:ext>
            </c:extLst>
          </c:dPt>
          <c:dPt>
            <c:idx val="1"/>
            <c:invertIfNegative val="0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79-4231-A1AD-880A50466674}"/>
              </c:ext>
            </c:extLst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79-4231-A1AD-880A50466674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79-4231-A1AD-880A50466674}"/>
              </c:ext>
            </c:extLst>
          </c:dPt>
          <c:dPt>
            <c:idx val="4"/>
            <c:invertIfNegative val="0"/>
            <c:bubble3D val="0"/>
            <c:spPr>
              <a:solidFill>
                <a:srgbClr val="1C4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79-4231-A1AD-880A504666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Campaign 2</c:v>
                </c:pt>
                <c:pt idx="1">
                  <c:v>Campaign 1</c:v>
                </c:pt>
                <c:pt idx="2">
                  <c:v>Campaign 5</c:v>
                </c:pt>
                <c:pt idx="3">
                  <c:v>Campaign 3</c:v>
                </c:pt>
                <c:pt idx="4">
                  <c:v>Campaign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</c:v>
                </c:pt>
                <c:pt idx="1">
                  <c:v>6.42</c:v>
                </c:pt>
                <c:pt idx="2">
                  <c:v>7.28</c:v>
                </c:pt>
                <c:pt idx="3">
                  <c:v>7.37</c:v>
                </c:pt>
                <c:pt idx="4">
                  <c:v>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79-4231-A1AD-880A504666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67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96-4380-8355-C13AA29A7E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1C4F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</c:v>
                </c:pt>
                <c:pt idx="1">
                  <c:v>33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96-4380-8355-C13AA29A7E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C4F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spending</c:v>
                </c:pt>
                <c:pt idx="1">
                  <c:v>kidhome</c:v>
                </c:pt>
                <c:pt idx="2">
                  <c:v>age</c:v>
                </c:pt>
                <c:pt idx="3">
                  <c:v>purchase</c:v>
                </c:pt>
                <c:pt idx="4">
                  <c:v>teenhome</c:v>
                </c:pt>
                <c:pt idx="5">
                  <c:v>income</c:v>
                </c:pt>
                <c:pt idx="6">
                  <c:v>recency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1.016</c:v>
                </c:pt>
                <c:pt idx="1">
                  <c:v>0.29899999999999999</c:v>
                </c:pt>
                <c:pt idx="2">
                  <c:v>4.8000000000000001E-2</c:v>
                </c:pt>
                <c:pt idx="3">
                  <c:v>1.2999999999999999E-2</c:v>
                </c:pt>
                <c:pt idx="4">
                  <c:v>-0.27800000000000002</c:v>
                </c:pt>
                <c:pt idx="5">
                  <c:v>-0.316</c:v>
                </c:pt>
                <c:pt idx="6">
                  <c:v>-0.68300000000000005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D-4B76-AC19-999BB87354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85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C4F82">
              <a:alpha val="40000"/>
            </a:srgbClr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65200" y="4151376"/>
            <a:ext cx="2286000" cy="22860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Campaign Response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4630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C4F82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C4F82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C4F82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C4F82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0608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C4F82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|  PostgreSQL  |  Python  |  Tableau  |  Logistic Regression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64E96E4-0A1A-28D6-4340-D28BF74DA09B}"/>
              </a:ext>
            </a:extLst>
          </p:cNvPr>
          <p:cNvSpPr/>
          <p:nvPr/>
        </p:nvSpPr>
        <p:spPr>
          <a:xfrm>
            <a:off x="640080" y="4412343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:  https://www.kaggle.com/datasets/rodsaldanha/arketing-campaign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0" y="548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Analysis — End-to-End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435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5727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masalah dan tujuan analisis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1579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4871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data, struktur, dan target variabel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0723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401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end-to-end dari data cleaning ke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9867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3159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cleaning, handling missing values, feature creation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1887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67528" y="12435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Statistical 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67528" y="15727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pelanggan, channel, dan uji signifikansi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1031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2860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7528" y="21579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&amp; Campaign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67528" y="24871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pelanggan dan evaluasi campaign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0175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30723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67528" y="3401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model optimization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319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41148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67528" y="398678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67528" y="43159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targeting dan impact bisnis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201168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19072"/>
            <a:ext cx="201168" cy="20116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pelanggan yang merespons campaign belum diketahui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258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pelanggan paling potensial belum teridentifikasi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01168" cy="20116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8254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pembelian paling efektif belum ditentukan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201168" cy="20116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392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keberhasilan campaign belum dianalisis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201168" cy="20116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959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target campaign berikutnya belum diprioritaskan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1430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581912"/>
            <a:ext cx="201168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719072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karakteristik pelanggan yang menerima campaign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86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2258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pola pembelian pelanggan lintas channel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852928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52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28254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segmen pelanggan potensial dengan RFM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419856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3392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performa campaign 1 hingga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986784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02352" y="3959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rekomendasi targeting campaign berikutnya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4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0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Kolom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2,213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Valid (setelah cleaning)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1664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(setelah cleaning)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1183" y="213283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084655"/>
              </p:ext>
            </p:extLst>
          </p:nvPr>
        </p:nvGraphicFramePr>
        <p:xfrm>
          <a:off x="320040" y="2459736"/>
          <a:ext cx="45720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sejak pembelian terakhir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pengeluaran (wine+fruits+meat+fish+sweets+gold)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transaksi (web+catalog+store)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Tingkat pendidikan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pernikahan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4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variabel (1=respons, 0=tidak)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120640" y="2194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2943796383"/>
              </p:ext>
            </p:extLst>
          </p:nvPr>
        </p:nvGraphicFramePr>
        <p:xfrm>
          <a:off x="5120640" y="2468880"/>
          <a:ext cx="38404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19"/>
          <p:cNvSpPr/>
          <p:nvPr/>
        </p:nvSpPr>
        <p:spPr>
          <a:xfrm>
            <a:off x="284480" y="4837176"/>
            <a:ext cx="6442891" cy="306324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30051" y="470458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Ketidakseimbangan target (imbalanced) → model ML perlu dievaluasi dengan Recall, bukan hanya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965960" cy="182880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check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430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417320"/>
            <a:ext cx="196596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67335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queries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Aggregasi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17320"/>
            <a:ext cx="196596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67335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variabel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&amp; pola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insight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11430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1430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417320"/>
            <a:ext cx="196596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1143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67335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signifikansi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analysis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6324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6324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37560"/>
            <a:ext cx="196596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5935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targeting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23160" y="306324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23160" y="306324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3337560"/>
            <a:ext cx="196596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88036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35935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Champions, Loyal, At Risk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Lost, Potential Loyalists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per segmen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06324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306324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337560"/>
            <a:ext cx="196596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35935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optimization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0840" y="306324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20840" y="306324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3337560"/>
            <a:ext cx="196596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17804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12280" y="3593592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visualization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1E1E2E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Feature Engineering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3891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Membuat tabel bersih
</a:t>
            </a: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marketing_campaign_clean AS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FROM marketing_campaign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IS NOT NULL;
</a:t>
            </a:r>
            <a:r>
              <a:rPr lang="en-US" sz="9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Tambah kolom Age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marketing_campaign_clean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2025 - year_birth;
</a:t>
            </a:r>
            <a:r>
              <a:rPr lang="en-US" sz="9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Spending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total_spending = mnt_wines
  + mnt_fruits + mnt_meat_products
  + mnt_fish_products + mnt_gold_prods;
</a:t>
            </a:r>
            <a:r>
              <a:rPr lang="en-US" sz="9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Children
</a:t>
            </a: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total_children = kidhome + teenhome;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Results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536192"/>
            <a:ext cx="3657600" cy="640080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536192"/>
            <a:ext cx="822960" cy="640080"/>
          </a:xfrm>
          <a:prstGeom prst="roundRect">
            <a:avLst>
              <a:gd name="adj" fmla="val 10256"/>
            </a:avLst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53619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53328" y="15910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2025 − year_birth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3328" y="1901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demografi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66360" y="2265390"/>
            <a:ext cx="3657600" cy="623177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265390"/>
            <a:ext cx="822960" cy="623177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2363216"/>
            <a:ext cx="822960" cy="511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total_spending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3328" y="2320254"/>
            <a:ext cx="2651760" cy="255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semua kategori produk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2631150"/>
            <a:ext cx="2651760" cy="239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customer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998295"/>
            <a:ext cx="3657600" cy="640080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998295"/>
            <a:ext cx="822960" cy="640080"/>
          </a:xfrm>
          <a:prstGeom prst="roundRect">
            <a:avLst>
              <a:gd name="adj" fmla="val 1025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998295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total_purchase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3053159"/>
            <a:ext cx="2651760" cy="262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catalog + 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53328" y="3364055"/>
            <a:ext cx="2651760" cy="246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engagement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757959"/>
            <a:ext cx="3657600" cy="640079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757959"/>
            <a:ext cx="822960" cy="640079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757959"/>
            <a:ext cx="822960" cy="640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total_children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53328" y="3812824"/>
            <a:ext cx="2651760" cy="262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kidhome + teenhome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53328" y="4123720"/>
            <a:ext cx="2651760" cy="246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rumah tangga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24 missing values pada kolom income → dihapus. Tidak ada duplikat ID. Feature engineering menyederhanakan 33 kolom mentah menjadi 4 metrik bisnis kunci.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KPI Customer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581912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4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2,213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16184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75104" y="1097280"/>
            <a:ext cx="1581912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11430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15.05%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75104" y="16184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21608" y="1097280"/>
            <a:ext cx="1581912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11430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52,237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21608" y="16184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(USD)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68112" y="1097280"/>
            <a:ext cx="1581912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68112" y="11430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68112" y="16184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 (USD)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14616" y="1097280"/>
            <a:ext cx="1581912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14616" y="1143000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1,343,339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214616" y="16184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(USD)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1214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by Response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28600" y="2395728"/>
          <a:ext cx="310896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3474720" y="21214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 by Response</a:t>
            </a:r>
            <a:endParaRPr lang="en-US" sz="12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3429000" y="2395728"/>
          <a:ext cx="28346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by Education</a:t>
            </a:r>
            <a:endParaRPr lang="en-US" sz="12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6355080" y="2395728"/>
          <a:ext cx="26060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228600" y="4005072"/>
            <a:ext cx="8686800" cy="1024128"/>
          </a:xfrm>
          <a:prstGeom prst="roundRect">
            <a:avLst>
              <a:gd name="adj" fmla="val 8929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0599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dari EDA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11480" y="44074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44074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11480" y="44074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11480" y="44074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11480" y="43891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Responder memiliki avg income 18% lebih tinggi: $60,210 vs $50,824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Responder menghabiskan 82% lebih banyak: $986 vs $540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PhD holders response rate tertinggi (21%) — hampir 6× lebih tinggi dari Basic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Perbedaan usia kecil: 55.5 vs 56.2 — usia bukan faktor pembeda utama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t-test (Welch's t-test) — Responder vs Non-Responder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50.824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4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60.210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0" y="181051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8105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1645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9019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5.38e-11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58200" y="1828800"/>
            <a:ext cx="320040" cy="384048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8288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5176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517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2999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539.95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23360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2999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985.66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0" y="290779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9077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+82.5%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9992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6.68e-24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58200" y="2926080"/>
            <a:ext cx="320040" cy="384048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29260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374904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74904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7490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0312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Non-Responder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4096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2336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23360" y="4096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943600" y="400507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0050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-31.3%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3840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4096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9.22e-21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458200" y="4023360"/>
            <a:ext cx="320040" cy="384048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8200" y="40233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20040" y="457200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0FDF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720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3 variabel (Income, Spending, Recency) memiliki perbedaan yang sangat signifikan (p &lt; 0.001). Customer yang merespons memiliki income lebih tinggi, spending lebih besar, dan melakukan pembelian lebih baru.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Channel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Transactions per Channel — Responder vs Non-Responder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44752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Growth Analysis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50876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563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terkuat! Pertumbuhan terbesar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63840" y="16459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16459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75.00%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233172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3865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9788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digital marketing yang besar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246888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0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24688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29.67%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15468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3209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97880" y="3520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penting, tapi pertumbuhan rendah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863840" y="329184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0F6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0" y="3291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0040" y="411480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11480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Catalog Purchase adalah differentiator terbesar antara responder dan non-responder (+75%). Customer yang aktif berbelanja via katalog jauh lebih likely untuk merespons campaign. Rekomendasikan target digital dan catalog marketing.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Segmentation &amp; Campaign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61872"/>
            <a:ext cx="329184" cy="329184"/>
          </a:xfrm>
          <a:prstGeom prst="ellipse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2618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1521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55371" y="1234440"/>
            <a:ext cx="11364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4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31.03%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1572768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0" y="11521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Income: $71,712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353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Spending: $1,239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5453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18.9 hari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914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371600"/>
            <a:ext cx="915285" cy="10972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847088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01168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55371" y="1984248"/>
            <a:ext cx="11364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14600" y="2322576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1901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Income: $70,906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Spending: $1,270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2951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69.4 hari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121408"/>
            <a:ext cx="914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121408"/>
            <a:ext cx="49259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596896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" y="27614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29443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customers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273405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18.62%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14600" y="3072384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Income: $43,414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2852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Spending: $277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0449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19.2 hari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871216"/>
            <a:ext cx="914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2871216"/>
            <a:ext cx="54923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346704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92608" y="351129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511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34015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" y="369417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customers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55371" y="3483864"/>
            <a:ext cx="11364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8.84%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514600" y="3822192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83280" y="34015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Income: $56,593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83280" y="36027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Spending: $640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3794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77.7 hari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3621024"/>
            <a:ext cx="914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3621024"/>
            <a:ext cx="260751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096512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92608" y="4261104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4261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5800" y="4151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" y="44439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customers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155371" y="4233672"/>
            <a:ext cx="11364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5.42%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2514600" y="4572000"/>
            <a:ext cx="777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383280" y="41513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Income: $37,184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83280" y="43525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Spending: $155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83280" y="4544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66.6 hari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92040" y="4370832"/>
            <a:ext cx="914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92040" y="4370832"/>
            <a:ext cx="159873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Acceptance Rate (%)</a:t>
            </a:r>
            <a:endParaRPr lang="en-US" sz="1200" dirty="0"/>
          </a:p>
        </p:txBody>
      </p:sp>
      <p:graphicFrame>
        <p:nvGraphicFramePr>
          <p:cNvPr id="65" name="Chart 0"/>
          <p:cNvGraphicFramePr/>
          <p:nvPr/>
        </p:nvGraphicFramePr>
        <p:xfrm>
          <a:off x="6035040" y="1444752"/>
          <a:ext cx="288036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6" name="Shape 63"/>
          <p:cNvSpPr/>
          <p:nvPr/>
        </p:nvSpPr>
        <p:spPr>
          <a:xfrm>
            <a:off x="6035040" y="3931920"/>
            <a:ext cx="2880360" cy="1024128"/>
          </a:xfrm>
          <a:prstGeom prst="roundRect">
            <a:avLst>
              <a:gd name="adj" fmla="val 7143"/>
            </a:avLst>
          </a:prstGeom>
          <a:solidFill>
            <a:srgbClr val="F0F6FF"/>
          </a:solidFill>
          <a:ln w="12700">
            <a:solidFill>
              <a:srgbClr val="D1E3F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44768" y="39776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4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3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performa terbaik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performa terendah (1.36%)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6× lebih mungkin merespons vs Lost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— Logistic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44752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84048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886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</a:t>
            </a: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→ 73% 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(+387%)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memiliki akurasi tinggi (86%) namun hanya menangkap 15% responder. Model yang dioptimasi mengorbankan sedikit akurasi untuk meningkatkan recall secara drastis — lebih cocok untuk marketing targeting.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(Coefficient)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532120" y="1444752"/>
          <a:ext cx="3383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70916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7091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Predicted Customers: Mayoritas dari segmen Champions dengan probabilitas respons &gt;93% — Customer 7919 tertinggi (95.2%)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502920" cy="1078992"/>
          </a:xfrm>
          <a:prstGeom prst="roundRect">
            <a:avLst>
              <a:gd name="adj" fmla="val 18182"/>
            </a:avLst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82880" cy="1078992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7043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140817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Champions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66420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31% — hampir 6× lebih efektif dibanding Lost Customers. Fokuskan budget campaign terbesar di sini.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313432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13432"/>
            <a:ext cx="502920" cy="1078992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13432"/>
            <a:ext cx="18288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31343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238658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262432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Upselling Potential Loyalists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288036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customer dengan response rate 18.6% dan recency rendah (19 hari). Potensi konversi besar dengan program upselling.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29584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529584"/>
            <a:ext cx="502920" cy="1078992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29584"/>
            <a:ext cx="18288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52958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60273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" y="384048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Program Loyal Customers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" y="409651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customer dengan spending tertinggi ($1,270) namun recency tinggi (69 hari). Win-back dengan program loyalitas.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97280"/>
            <a:ext cx="502920" cy="1078992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1097280"/>
            <a:ext cx="18288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0972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00600" y="1755648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117043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140817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At Risk Customers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21808" y="166420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customer yang mulai tidak aktif. Jalankan campaign reaktivasi sebelum mereka berpindah ke kategori Lost.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13432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3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313432"/>
            <a:ext cx="502920" cy="1078992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4920" y="2313432"/>
            <a:ext cx="182880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31343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800600" y="29718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238658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262432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ML Probability Scoring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288036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budget terbatas, prioritaskan customer berdasarkan skor probabilitas ML untuk memaksimalkan ROI campaign.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645152"/>
            <a:ext cx="8686800" cy="438912"/>
          </a:xfrm>
          <a:prstGeom prst="roundRect">
            <a:avLst>
              <a:gd name="adj" fmla="val 16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64515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Meningkatkan efisiensi targeting  |  Mengurangi pemborosan budget  |  Keputusan berbasis data  |  Memprioritaskan customer berpotensi tertinggi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C4F82">
              <a:alpha val="40000"/>
            </a:srgbClr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dari Analisis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campaign hanya 15% — ketidakseimbangan target perlu diperhatikan dalam pemodelan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6916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9164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6184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Champions memiliki response rate tertinggi (31%) — 6× lebih tinggi dari Lost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15768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1576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64261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menghabiskan 82% lebih banyak ($986 vs $540) — total spending adalah prediktor terkuat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532888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715768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1576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+73%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64261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model meningkat drastis dari 15% → 73% setelah optimasi — jauh lebih efektif untuk targeting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39896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3989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Cmp4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" y="36667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4 adalah campaign paling efektif (7.41%), Campaign 2 paling rendah (1.36%)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557016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1C4F82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739896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3989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6667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 channel tumbuh 75% pada responder — gunakan sebagai indikator targeting utama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RFM Segmentation + ML Probability Scoring = Marketing yang lebih efisien dan terukur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C4F82">
              <a:alpha val="45000"/>
            </a:srgbClr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telah menyimak!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ini menggambarkan kemampuan end-to-end analisis data —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data cleaning, SQL, EDA, statistical testing, RFM segmentation,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hingga machine learning dan rekomendasi bisnis.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C4F82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hadirahman7477@gmail.com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52044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C4F82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566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linkedin.com/in/hadi-rahman01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C4F82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566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0877-7210-7643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52044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1C4F82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566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Tangerang, Indonesia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Data Scientist  |  Marketing Analytics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C342B51-0FA2-2BA8-3F16-75DFD5A6D720}"/>
              </a:ext>
            </a:extLst>
          </p:cNvPr>
          <p:cNvSpPr/>
          <p:nvPr/>
        </p:nvSpPr>
        <p:spPr>
          <a:xfrm>
            <a:off x="3977640" y="42519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Hadi Rahman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21" name="Picture 20" descr="Google mail gmail logo Ikon">
            <a:extLst>
              <a:ext uri="{FF2B5EF4-FFF2-40B4-BE49-F238E27FC236}">
                <a16:creationId xmlns:a16="http://schemas.microsoft.com/office/drawing/2014/main" id="{CDDAD511-AF53-01C9-56E7-A1A855D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1" y="3540252"/>
            <a:ext cx="268224" cy="268224"/>
          </a:xfrm>
          <a:prstGeom prst="rect">
            <a:avLst/>
          </a:prstGeom>
        </p:spPr>
      </p:pic>
      <p:pic>
        <p:nvPicPr>
          <p:cNvPr id="22" name="Picture 21" descr="LinkedIn color icon in PNG, SVG">
            <a:extLst>
              <a:ext uri="{FF2B5EF4-FFF2-40B4-BE49-F238E27FC236}">
                <a16:creationId xmlns:a16="http://schemas.microsoft.com/office/drawing/2014/main" id="{F491F32D-952E-82C0-63E7-482DBE322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1822" y="3524345"/>
            <a:ext cx="300037" cy="300037"/>
          </a:xfrm>
          <a:prstGeom prst="rect">
            <a:avLst/>
          </a:prstGeom>
        </p:spPr>
      </p:pic>
      <p:pic>
        <p:nvPicPr>
          <p:cNvPr id="23" name="Picture 22" descr="10 ide Icon wa | whatsapp png, ikon aplikasi, desain logo restoran">
            <a:extLst>
              <a:ext uri="{FF2B5EF4-FFF2-40B4-BE49-F238E27FC236}">
                <a16:creationId xmlns:a16="http://schemas.microsoft.com/office/drawing/2014/main" id="{E3BF7397-798E-8212-9319-53E817F16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4068" y1="36864" x2="29661" y2="55508"/>
                        <a14:foregroundMark x1="29661" y1="55508" x2="55085" y2="68644"/>
                        <a14:foregroundMark x1="55085" y1="68644" x2="58898" y2="43644"/>
                        <a14:foregroundMark x1="58898" y1="43644" x2="36441" y2="58898"/>
                        <a14:foregroundMark x1="36441" y1="58898" x2="61864" y2="39831"/>
                        <a14:foregroundMark x1="61864" y1="39831" x2="38136" y2="37288"/>
                        <a14:foregroundMark x1="38136" y1="37288" x2="62712" y2="52119"/>
                        <a14:foregroundMark x1="62712" y1="52119" x2="38559" y2="56780"/>
                        <a14:foregroundMark x1="38559" y1="56780" x2="73729" y2="50424"/>
                        <a14:foregroundMark x1="73729" y1="50424" x2="74153" y2="51695"/>
                        <a14:foregroundMark x1="72881" y1="49576" x2="71610" y2="55085"/>
                        <a14:foregroundMark x1="55508" y1="68644" x2="55932" y2="67797"/>
                        <a14:foregroundMark x1="31356" y1="54661" x2="29661" y2="57203"/>
                        <a14:foregroundMark x1="33898" y1="50847" x2="28814" y2="58475"/>
                        <a14:foregroundMark x1="58051" y1="69492" x2="55508" y2="67797"/>
                        <a14:foregroundMark x1="60169" y1="70763" x2="55932" y2="67797"/>
                        <a14:foregroundMark x1="73729" y1="50000" x2="61441" y2="29661"/>
                        <a14:foregroundMark x1="61441" y1="29661" x2="39407" y2="30932"/>
                        <a14:foregroundMark x1="39407" y1="30932" x2="28390" y2="50000"/>
                        <a14:foregroundMark x1="28390" y1="50000" x2="32627" y2="71610"/>
                        <a14:foregroundMark x1="32627" y1="71610" x2="55508" y2="716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1447" y="3538591"/>
            <a:ext cx="247025" cy="247025"/>
          </a:xfrm>
          <a:prstGeom prst="rect">
            <a:avLst/>
          </a:prstGeom>
        </p:spPr>
      </p:pic>
      <p:pic>
        <p:nvPicPr>
          <p:cNvPr id="24" name="Picture 23" descr="Google Peta Logo - Foto gratis di Pixabay">
            <a:extLst>
              <a:ext uri="{FF2B5EF4-FFF2-40B4-BE49-F238E27FC236}">
                <a16:creationId xmlns:a16="http://schemas.microsoft.com/office/drawing/2014/main" id="{2CD3E9E6-6A67-98C3-D318-3B46F337A9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5656" y="3531687"/>
            <a:ext cx="258815" cy="3249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1446</Words>
  <Application>Microsoft Office PowerPoint</Application>
  <PresentationFormat>On-screen Show (16:9)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 Analysis — Portfolio</dc:title>
  <dc:subject>PptxGenJS Presentation</dc:subject>
  <dc:creator>Data Analyst</dc:creator>
  <cp:lastModifiedBy>Hadi Rahman</cp:lastModifiedBy>
  <cp:revision>4</cp:revision>
  <dcterms:created xsi:type="dcterms:W3CDTF">2026-06-22T04:50:41Z</dcterms:created>
  <dcterms:modified xsi:type="dcterms:W3CDTF">2026-07-04T14:46:40Z</dcterms:modified>
</cp:coreProperties>
</file>